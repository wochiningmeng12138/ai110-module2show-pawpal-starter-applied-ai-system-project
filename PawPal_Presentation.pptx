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PawPal+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461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CFDDE6"/>
                </a:solidFill>
                <a:latin typeface="Calibri"/>
              </a:rPr>
              <a:t>An AI-Enhanced Pet Care Scheduler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77639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AB4C4"/>
                </a:solidFill>
                <a:latin typeface="Calibri"/>
              </a:rPr>
              <a:t>Module 2 Final Presentation  |  Deterministic scheduling + a RAG-powered care advisor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AB4C4"/>
                </a:solidFill>
                <a:latin typeface="Calibri"/>
              </a:rPr>
              <a:t>5-7 minute walkthrough: system, live demo, reliability evidence, lessons learned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7D"/>
                </a:solidFill>
                <a:latin typeface="Calibri"/>
              </a:rPr>
              <a:t>1. THE PROBLEM &amp; THE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B2A41"/>
                </a:solidFill>
                <a:latin typeface="Calibri"/>
              </a:rPr>
              <a:t>From “I know my dog needs walks” to an actual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600"/>
              </a:spcAft>
            </a:pPr>
            <a:r>
              <a:rPr b="1" sz="1650">
                <a:solidFill>
                  <a:srgbClr val="222222"/>
                </a:solidFill>
                <a:latin typeface="Calibri"/>
              </a:rPr>
              <a:t>•  The gap: </a:t>
            </a:r>
            <a:r>
              <a:rPr sz="1650">
                <a:solidFill>
                  <a:srgbClr val="222222"/>
                </a:solidFill>
                <a:latin typeface="Calibri"/>
              </a:rPr>
              <a:t>pet owners know the basics (walks, litter, feeding) but not the right frequency, duration, or priority — and don't have time to turn a care guide into a task list by hand.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b="1" sz="1650">
                <a:solidFill>
                  <a:srgbClr val="222222"/>
                </a:solidFill>
                <a:latin typeface="Calibri"/>
              </a:rPr>
              <a:t>•  Layer 1 — the scheduler (pawpal_system.py): </a:t>
            </a:r>
            <a:r>
              <a:rPr sz="1650">
                <a:solidFill>
                  <a:srgbClr val="222222"/>
                </a:solidFill>
                <a:latin typeface="Calibri"/>
              </a:rPr>
              <a:t>deterministic. Takes tasks with a duration and priority, produces a conflict-free daily plan, and explains every scheduling decision it makes.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b="1" sz="1650">
                <a:solidFill>
                  <a:srgbClr val="222222"/>
                </a:solidFill>
                <a:latin typeface="Calibri"/>
              </a:rPr>
              <a:t>•  Layer 2 — the AI care advisor (rag_advisor.py): </a:t>
            </a:r>
            <a:r>
              <a:rPr sz="1650">
                <a:solidFill>
                  <a:srgbClr val="222222"/>
                </a:solidFill>
                <a:latin typeface="Calibri"/>
              </a:rPr>
              <a:t>a stretch feature. Turns a pet's species / age / notes into suggested tasks, grounded in a real knowledge base instead of the model just inventing advice.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737360"/>
            <a:ext cx="5120640" cy="1097280"/>
          </a:xfrm>
          <a:prstGeom prst="roundRect">
            <a:avLst/>
          </a:prstGeom>
          <a:solidFill>
            <a:srgbClr val="2E867D"/>
          </a:solidFill>
          <a:ln>
            <a:solidFill>
              <a:srgbClr val="2E86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The scheduler answers HOW to fit tasks into a day.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3017520"/>
            <a:ext cx="5120640" cy="1097280"/>
          </a:xfrm>
          <a:prstGeom prst="roundRect">
            <a:avLst/>
          </a:prstGeom>
          <a:solidFill>
            <a:srgbClr val="E08E2A"/>
          </a:solidFill>
          <a:ln>
            <a:solidFill>
              <a:srgbClr val="E08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The AI advisor answers WHAT tasks should even
be on the list — for someone who doesn't
already know.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PawPal+ · Final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7D"/>
                </a:solidFill>
                <a:latin typeface="Calibri"/>
              </a:rPr>
              <a:t>2.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B2A41"/>
                </a:solidFill>
                <a:latin typeface="Calibri"/>
              </a:rPr>
              <a:t>The RAG pipeline behind “Generate AI care plan”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65960"/>
            <a:ext cx="1828800" cy="1371600"/>
          </a:xfrm>
          <a:prstGeom prst="roundRect">
            <a:avLst/>
          </a:prstGeom>
          <a:solidFill>
            <a:srgbClr val="2E867D"/>
          </a:solidFill>
          <a:ln>
            <a:solidFill>
              <a:srgbClr val="2E86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Pet profile
(species, age, notes)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0" y="2651760.0"/>
            <a:ext cx="228600" cy="0.0"/>
          </a:xfrm>
          <a:prstGeom prst="line">
            <a:avLst/>
          </a:prstGeom>
          <a:ln w="31750">
            <a:solidFill>
              <a:srgbClr val="1B2A4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514600" y="1965960"/>
            <a:ext cx="1828800" cy="1371600"/>
          </a:xfrm>
          <a:prstGeom prst="roundRect">
            <a:avLst/>
          </a:prstGeom>
          <a:solidFill>
            <a:srgbClr val="2E867D"/>
          </a:solidFill>
          <a:ln>
            <a:solidFill>
              <a:srgbClr val="2E86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Retriever
ChromaDB + care-guide
chunks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343400" y="2651760.0"/>
            <a:ext cx="228600" cy="0.0"/>
          </a:xfrm>
          <a:prstGeom prst="line">
            <a:avLst/>
          </a:prstGeom>
          <a:ln w="31750">
            <a:solidFill>
              <a:srgbClr val="1B2A4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72000" y="1965960"/>
            <a:ext cx="1828800" cy="1371600"/>
          </a:xfrm>
          <a:prstGeom prst="roundRect">
            <a:avLst/>
          </a:prstGeom>
          <a:solidFill>
            <a:srgbClr val="E08E2A"/>
          </a:solidFill>
          <a:ln>
            <a:solidFill>
              <a:srgbClr val="E08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Claude (claude-opus-5)
JSON-schema
structured output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0" y="2651760.0"/>
            <a:ext cx="228600" cy="0.0"/>
          </a:xfrm>
          <a:prstGeom prst="line">
            <a:avLst/>
          </a:prstGeom>
          <a:ln w="31750">
            <a:solidFill>
              <a:srgbClr val="1B2A4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629400" y="1965960"/>
            <a:ext cx="1828800" cy="1371600"/>
          </a:xfrm>
          <a:prstGeom prst="roundRect">
            <a:avLst/>
          </a:prstGeom>
          <a:solidFill>
            <a:srgbClr val="2E867D"/>
          </a:solidFill>
          <a:ln>
            <a:solidFill>
              <a:srgbClr val="2E86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Structured output
advice + task list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458200" y="2651760.0"/>
            <a:ext cx="228600" cy="0.0"/>
          </a:xfrm>
          <a:prstGeom prst="line">
            <a:avLst/>
          </a:prstGeom>
          <a:ln w="31750">
            <a:solidFill>
              <a:srgbClr val="1B2A4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686800" y="1965960"/>
            <a:ext cx="1828800" cy="1371600"/>
          </a:xfrm>
          <a:prstGeom prst="roundRect">
            <a:avLst/>
          </a:prstGeom>
          <a:solidFill>
            <a:srgbClr val="2E867D"/>
          </a:solidFill>
          <a:ln>
            <a:solidFill>
              <a:srgbClr val="2E86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pawpal_system.Task
instances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840480"/>
            <a:ext cx="10058400" cy="960120"/>
          </a:xfrm>
          <a:prstGeom prst="roundRect">
            <a:avLst/>
          </a:prstGeom>
          <a:solidFill>
            <a:srgbClr val="8A2B2B"/>
          </a:solidFill>
          <a:ln>
            <a:solidFill>
              <a:srgbClr val="8A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50" b="1">
                <a:solidFill>
                  <a:srgbClr val="FFFFFF"/>
                </a:solidFill>
              </a:rPr>
              <a:t>Human checkpoint: the user sees the advice + proposed tasks first — tasks are only written to the pet's schedule after an explicit
“Add these tasks to the schedule” confirmation. Any API error shows a clean message; nothing crashes or silently adds bad data.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0" y="3337560"/>
            <a:ext cx="0" cy="502920"/>
          </a:xfrm>
          <a:prstGeom prst="line">
            <a:avLst/>
          </a:prstGeom>
          <a:ln w="25400">
            <a:solidFill>
              <a:srgbClr val="8A2B2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507492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Retriever and Agent are separate modules on purpose: the knowledge base can grow or change without touching how Claude is called, and a Chroma failure vs. an API failure can be told apart immediately.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Full diagram: diagrams/rag_architecture.mmd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7D"/>
                </a:solidFill>
                <a:latin typeface="Calibri"/>
              </a:rPr>
              <a:t>3.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B2A41"/>
                </a:solidFill>
                <a:latin typeface="Calibri"/>
              </a:rPr>
              <a:t>Input: a senior dog on medication (a deliberately tricky case)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1550">
                <a:solidFill>
                  <a:srgbClr val="222222"/>
                </a:solidFill>
                <a:latin typeface="Calibri"/>
              </a:rPr>
              <a:t>•  1. Add the pet: </a:t>
            </a:r>
            <a:r>
              <a:rPr sz="1550">
                <a:solidFill>
                  <a:srgbClr val="222222"/>
                </a:solidFill>
                <a:latin typeface="Calibri"/>
              </a:rPr>
              <a:t>“Bruno,” dog, age 10, notes = “on daily thyroid medication, senior, needs monitoring.”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1550">
                <a:solidFill>
                  <a:srgbClr val="222222"/>
                </a:solidFill>
                <a:latin typeface="Calibri"/>
              </a:rPr>
              <a:t>•  2. Click “Generate AI care plan.” </a:t>
            </a:r>
            <a:r>
              <a:rPr sz="1550">
                <a:solidFill>
                  <a:srgbClr val="222222"/>
                </a:solidFill>
                <a:latin typeface="Calibri"/>
              </a:rPr>
              <a:t>The pet's info becomes a retrieval query; ChromaDB pulls the 3-4 most relevant care-guide passages; those passages (not just the raw pet info) go to Claude with a JSON schema.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1550">
                <a:solidFill>
                  <a:srgbClr val="222222"/>
                </a:solidFill>
                <a:latin typeface="Calibri"/>
              </a:rPr>
              <a:t>•  3. Check the medication task: </a:t>
            </a:r>
            <a:r>
              <a:rPr sz="1550">
                <a:solidFill>
                  <a:srgbClr val="222222"/>
                </a:solidFill>
                <a:latin typeface="Calibri"/>
              </a:rPr>
              <a:t>should come back priority = 1 with a real preferred_time (e.g. “08:00”), not null — because the guide says medication needs a fixed daily time.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1550">
                <a:solidFill>
                  <a:srgbClr val="222222"/>
                </a:solidFill>
                <a:latin typeface="Calibri"/>
              </a:rPr>
              <a:t>•  4. Confirm and add to schedule: </a:t>
            </a:r>
            <a:r>
              <a:rPr sz="1550">
                <a:solidFill>
                  <a:srgbClr val="222222"/>
                </a:solidFill>
                <a:latin typeface="Calibri"/>
              </a:rPr>
              <a:t>the suggestion becomes a real, schedulable Task, not just text in a box.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00200"/>
            <a:ext cx="5212080" cy="4297680"/>
          </a:xfrm>
          <a:prstGeom prst="rect">
            <a:avLst/>
          </a:prstGeom>
          <a:solidFill>
            <a:srgbClr val="1B2A41"/>
          </a:solidFill>
        </p:spPr>
        <p:txBody>
          <a:bodyPr wrap="square" lIns="137160" tIns="91440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Consolas"/>
              </a:rPr>
              <a:t>Input pet -&gt; name="Bruno", species="dog", age=10,
            notes="on daily thyroid medication, senior..."
AI advice:
Keep his medication at a fixed time every day for
consistent blood levels, and keep walks shorter and
gentler given his age...
AI proposed tasks:
  - Give thyroid medication
    priority=1  preferred_time="08:00"
  - Short gentle walk
    priority=1  preferred_time=None
Guardrail check: medication task has priority=1
and a non-null preferred_time -- PASSED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No live key? Same real code path: python demo_ai_advisor.py (network call swapped for a fixed response)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7D"/>
                </a:solidFill>
                <a:latin typeface="Calibri"/>
              </a:rPr>
              <a:t>4. RELIABILITY, NOT JUST A WORKING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B2A41"/>
                </a:solidFill>
                <a:latin typeface="Calibri"/>
              </a:rPr>
              <a:t>A demo that works once ≠ a system that's reliable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291840" cy="1188720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200" b="1">
                <a:solidFill>
                  <a:srgbClr val="FFFFFF"/>
                </a:solidFill>
              </a:rPr>
              <a:t>29 / 29
tests passing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23360" y="1600200"/>
            <a:ext cx="3291840" cy="1188720"/>
          </a:xfrm>
          <a:prstGeom prst="roundRect">
            <a:avLst/>
          </a:prstGeom>
          <a:solidFill>
            <a:srgbClr val="2E867D"/>
          </a:solidFill>
          <a:ln>
            <a:solidFill>
              <a:srgbClr val="2E86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18 original
scheduler tests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600200"/>
            <a:ext cx="4114800" cy="1188720"/>
          </a:xfrm>
          <a:prstGeom prst="roundRect">
            <a:avLst/>
          </a:prstGeom>
          <a:solidFill>
            <a:srgbClr val="E08E2A"/>
          </a:solidFill>
          <a:ln>
            <a:solidFill>
              <a:srgbClr val="E08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11 new RAG
advisor 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63240"/>
            <a:ext cx="11064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b="1" sz="1550">
                <a:solidFill>
                  <a:srgbClr val="222222"/>
                </a:solidFill>
                <a:latin typeface="Calibri"/>
              </a:rPr>
              <a:t>•  3 tests — real retrieval, no mocking: </a:t>
            </a:r>
            <a:r>
              <a:rPr sz="1550">
                <a:solidFill>
                  <a:srgbClr val="222222"/>
                </a:solidFill>
                <a:latin typeface="Calibri"/>
              </a:rPr>
              <a:t>dog/cat/generic queries all return relevant, species-appropriate passages from the real knowledge base.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b="1" sz="1550">
                <a:solidFill>
                  <a:srgbClr val="222222"/>
                </a:solidFill>
                <a:latin typeface="Calibri"/>
              </a:rPr>
              <a:t>•  2 tests — the success path: </a:t>
            </a:r>
            <a:r>
              <a:rPr sz="1550">
                <a:solidFill>
                  <a:srgbClr val="222222"/>
                </a:solidFill>
                <a:latin typeface="Calibri"/>
              </a:rPr>
              <a:t>a mocked Claude response is unpacked correctly, and the pet's actual name/notes are confirmed to reach the prompt sent to the model.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b="1" sz="1550">
                <a:solidFill>
                  <a:srgbClr val="222222"/>
                </a:solidFill>
                <a:latin typeface="Calibri"/>
              </a:rPr>
              <a:t>•  5 tests — failure handling: </a:t>
            </a:r>
            <a:r>
              <a:rPr sz="1550">
                <a:solidFill>
                  <a:srgbClr val="222222"/>
                </a:solidFill>
                <a:latin typeface="Calibri"/>
              </a:rPr>
              <a:t>a model refusal, malformed JSON, an empty response, a real anthropic.APIStatusError, and a real anthropic.APIConnectionError — every one caught cleanly as a RAGAdvisorError, never an unhandled crash.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b="1" sz="1550">
                <a:solidFill>
                  <a:srgbClr val="222222"/>
                </a:solidFill>
                <a:latin typeface="Calibri"/>
              </a:rPr>
              <a:t>•  Honest limitation: </a:t>
            </a:r>
            <a:r>
              <a:rPr sz="1550">
                <a:solidFill>
                  <a:srgbClr val="222222"/>
                </a:solidFill>
                <a:latin typeface="Calibri"/>
              </a:rPr>
              <a:t>none of these 11 tests call the real Claude API (no key in this environment) — they prove the code survives any API failure shape, not that the real model always follows the prompt's instructions.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Full transcripts: README.md → “Reproducible Execution Evidence”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7D"/>
                </a:solidFill>
                <a:latin typeface="Calibri"/>
              </a:rPr>
              <a:t>5. WHAT THIS TAUGHT 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B2A41"/>
                </a:solidFill>
                <a:latin typeface="Calibri"/>
              </a:rPr>
              <a:t>Three lessons that will carry over to the next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2600"/>
              </a:spcAft>
            </a:pPr>
            <a:r>
              <a:rPr b="1" sz="1800">
                <a:solidFill>
                  <a:srgbClr val="222222"/>
                </a:solidFill>
                <a:latin typeface="Calibri"/>
              </a:rPr>
              <a:t>•  Push constraints to the design stage, not the runtime stage. </a:t>
            </a:r>
            <a:r>
              <a:rPr sz="1800">
                <a:solidFill>
                  <a:srgbClr val="222222"/>
                </a:solidFill>
                <a:latin typeface="Calibri"/>
              </a:rPr>
              <a:t>Locking the model's output into a JSON schema solved a whole category of parsing bugs before they could exist, instead of writing defensive code to catch them afterward.</a:t>
            </a:r>
          </a:p>
          <a:p>
            <a:pPr>
              <a:lnSpc>
                <a:spcPct val="130000"/>
              </a:lnSpc>
              <a:spcAft>
                <a:spcPts val="2600"/>
              </a:spcAft>
            </a:pPr>
            <a:r>
              <a:rPr b="1" sz="1800">
                <a:solidFill>
                  <a:srgbClr val="222222"/>
                </a:solidFill>
                <a:latin typeface="Calibri"/>
              </a:rPr>
              <a:t>•  Retrieval and generation fail independently — test them that way. </a:t>
            </a:r>
            <a:r>
              <a:rPr sz="1800">
                <a:solidFill>
                  <a:srgbClr val="222222"/>
                </a:solidFill>
                <a:latin typeface="Calibri"/>
              </a:rPr>
              <a:t>When something looks wrong, checking whether retrieval actually pulled the right passage is usually faster than assuming the model misunderstood the prompt.</a:t>
            </a:r>
          </a:p>
          <a:p>
            <a:pPr>
              <a:lnSpc>
                <a:spcPct val="130000"/>
              </a:lnSpc>
              <a:spcAft>
                <a:spcPts val="2600"/>
              </a:spcAft>
            </a:pPr>
            <a:r>
              <a:rPr b="1" sz="1800">
                <a:solidFill>
                  <a:srgbClr val="222222"/>
                </a:solidFill>
                <a:latin typeface="Calibri"/>
              </a:rPr>
              <a:t>•  Testing an AI feature means testing your code's reaction to the AI, not the AI's judgment. </a:t>
            </a:r>
            <a:r>
              <a:rPr sz="1800">
                <a:solidFill>
                  <a:srgbClr val="222222"/>
                </a:solidFill>
                <a:latin typeface="Calibri"/>
              </a:rPr>
              <a:t>Those are different problems. Conflating them is how “all tests pass” quietly turns into “the system works,” when it might not.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PawPal+ · Final Presentation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The scheduler was always deterministic and easy to trust.
The real engineering problem was making the AI-powered part
earn that same level of trust.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FDDE6"/>
                </a:solidFill>
                <a:latin typeface="Calibri"/>
              </a:rPr>
              <a:t>Structured output  ·  a human confirmation step before anything is written  ·  tests for failure, not just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08E2A"/>
                </a:solidFill>
                <a:latin typeface="Calibri"/>
              </a:rPr>
              <a:t>Thank you — questions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